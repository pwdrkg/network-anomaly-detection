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0A9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Generic</c:v>
                  </c:pt>
                  <c:pt idx="1">
                    <c:v>Exploits</c:v>
                  </c:pt>
                  <c:pt idx="2">
                    <c:v>Fuzzers</c:v>
                  </c:pt>
                  <c:pt idx="3">
                    <c:v>DoS</c:v>
                  </c:pt>
                  <c:pt idx="4">
                    <c:v>Recon</c:v>
                  </c:pt>
                  <c:pt idx="5">
                    <c:v>Analysis</c:v>
                  </c:pt>
                  <c:pt idx="6">
                    <c:v>Backdoor</c:v>
                  </c:pt>
                  <c:pt idx="7">
                    <c:v>Shellcode</c:v>
                  </c:pt>
                  <c:pt idx="8">
                    <c:v>Worms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40000</c:v>
                </c:pt>
                <c:pt idx="1">
                  <c:v>33393</c:v>
                </c:pt>
                <c:pt idx="2">
                  <c:v>18184</c:v>
                </c:pt>
                <c:pt idx="3">
                  <c:v>12264</c:v>
                </c:pt>
                <c:pt idx="4">
                  <c:v>10491</c:v>
                </c:pt>
                <c:pt idx="5">
                  <c:v>2000</c:v>
                </c:pt>
                <c:pt idx="6">
                  <c:v>1746</c:v>
                </c:pt>
                <c:pt idx="7">
                  <c:v>1133</c:v>
                </c:pt>
                <c:pt idx="8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9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Logistic Reg.</c:v>
                  </c:pt>
                  <c:pt idx="1">
                    <c:v>SVM (linear)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XGBoost</c:v>
                  </c:pt>
                  <c:pt idx="5">
                    <c:v>Neural Net</c:v>
                  </c:pt>
                  <c:pt idx="6">
                    <c:v>Isolation F.*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0.939</c:v>
                </c:pt>
                <c:pt idx="1">
                  <c:v>0.99</c:v>
                </c:pt>
                <c:pt idx="2">
                  <c:v>0.955</c:v>
                </c:pt>
                <c:pt idx="3">
                  <c:v>0.974</c:v>
                </c:pt>
                <c:pt idx="4">
                  <c:v>0.971</c:v>
                </c:pt>
                <c:pt idx="5">
                  <c:v>0.976</c:v>
                </c:pt>
                <c:pt idx="6">
                  <c:v>0.754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Logistic Reg.</c:v>
                  </c:pt>
                  <c:pt idx="1">
                    <c:v>SVM (linear)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XGBoost</c:v>
                  </c:pt>
                  <c:pt idx="5">
                    <c:v>Neural Net</c:v>
                  </c:pt>
                  <c:pt idx="6">
                    <c:v>Isolation F.*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0.872</c:v>
                </c:pt>
                <c:pt idx="1">
                  <c:v>0.854</c:v>
                </c:pt>
                <c:pt idx="2">
                  <c:v>0.921</c:v>
                </c:pt>
                <c:pt idx="3">
                  <c:v>0.919</c:v>
                </c:pt>
                <c:pt idx="4">
                  <c:v>0.914</c:v>
                </c:pt>
                <c:pt idx="5">
                  <c:v>0.88</c:v>
                </c:pt>
                <c:pt idx="6">
                  <c:v>0.754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0C7C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Logistic Reg.</c:v>
                  </c:pt>
                  <c:pt idx="1">
                    <c:v>SVM (linear)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XGBoost</c:v>
                  </c:pt>
                  <c:pt idx="5">
                    <c:v>Neural Net</c:v>
                  </c:pt>
                  <c:pt idx="6">
                    <c:v>Isolation F.*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0.97</c:v>
                </c:pt>
                <c:pt idx="1">
                  <c:v>0.959</c:v>
                </c:pt>
                <c:pt idx="2">
                  <c:v>0.951</c:v>
                </c:pt>
                <c:pt idx="3">
                  <c:v>0.989</c:v>
                </c:pt>
                <c:pt idx="4">
                  <c:v>0.988</c:v>
                </c:pt>
                <c:pt idx="5">
                  <c:v>0.981</c:v>
                </c:pt>
                <c:pt idx="6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1270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deck for peers. Walks through the full ML lifecycle: framing, data, preprocessing, modelling, and the ethical-AI audit on UNSW-NB15.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decision: recall-first because false negatives (missed attacks) are far more costly than false positives. Accuracy is demoted.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Severe multi-class imbalance — Generic 40k vs Worms 130 — shapes the fairness audit later. Binary balance is ~68% attack / 32%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reusable (src/preprocessing.py) and is what the deployment step will load. Per-split fitting is the key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the rest of Step 3: t-SNE + PCA (dimensionality reduction) and the embedded+filter feature selection down to 21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(global) and LIME (local) agree; two engineered features are in the top four — evidence the feature engineering paid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 and XGBoost are near-identical and both excellent. RF selected for best recall + PR-AUC and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security triage tool this is the right error profile: catch almost all attacks, tolerate some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limitations slide. Red = higher priority (fairness gap, adversarial evasion); amber = monitored. Sets up the mitigations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columns: what we actually did (incl. the honest SMOTE failure) vs the production defences we recommend. Threshold tuning is the headline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deliberate exclusions (left) with the open research agenda from the report's synthesis chapter (right) — framing future work for a next paper or PhD.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Forward-looking close: MLOps loop + robustness pillars. Message: relevance requires continual learning against an evolving threat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55448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01168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2743200"/>
            <a:ext cx="128016" cy="12801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3291840"/>
            <a:ext cx="201168" cy="20116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457200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512064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5669280"/>
            <a:ext cx="128016" cy="128016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0" name="Shape 8"/>
          <p:cNvSpPr/>
          <p:nvPr/>
        </p:nvSpPr>
        <p:spPr>
          <a:xfrm>
            <a:off x="10680192" y="987552"/>
            <a:ext cx="640080" cy="64008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20272" y="1627632"/>
            <a:ext cx="-1005840" cy="45720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4432" y="2084832"/>
            <a:ext cx="1280160" cy="73152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4592" y="2816352"/>
            <a:ext cx="-640080" cy="54864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4512" y="3364992"/>
            <a:ext cx="274320" cy="128016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28832" y="4645152"/>
            <a:ext cx="-731520" cy="54864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97312" y="5193792"/>
            <a:ext cx="1188720" cy="54864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196596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Detecting Anomalies in Network Traffic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5661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machine-learning pipeline for network intrusion detection on the UNSW-NB15 benchmark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anomaly detection  •  5 models compared  •  Explainability &amp; fairness audit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security pain to a defined ML task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can manually inspect millions of daily connections. We frame intrusion detection as a supervised task that flags suspicious connections for analyst triage.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framed as anomaly detection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Attack, extendable to 9 attack families (multi-class).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METRICS — WHY RECALL LEADS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09728" cy="10972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(attack)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617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attack is the costly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047488"/>
            <a:ext cx="109728" cy="10972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001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Minority-aware, threshold-independent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431536"/>
            <a:ext cx="109728" cy="10972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385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385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recall vs false alarms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815584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769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5769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only — misleading here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166420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175K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31546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83680" y="326440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C7C9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82K</a:t>
            </a:r>
            <a:endParaRPr lang="en-US" sz="54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records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4754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83680" y="486460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42</a:t>
            </a:r>
            <a:endParaRPr lang="en-US" sz="54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features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choice follows established practice for imbalanced data — Saito &amp; Rehmsmeier (2015); Davis &amp; Goadrich (2006).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UNSW-NB15 — realistic, labelled traffic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Australian Centre for Cyber Security using real attack tooling. Dual-labelled (binary + 9 families), with flow, timing, content and connection-history features.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871216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770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38144"/>
            <a:ext cx="118872" cy="11887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005072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904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'-' placeholder (54%)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572000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right-skew outliers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high; the two flags on the right are handled in preprocessing.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families (training set)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537960" y="2011680"/>
          <a:ext cx="4983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leakage-safe feature pipeline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encoder and scaler is fit on the training split only, then applied to test — preventing information leakage and mirroring deployment against unseen traffic.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id; recode service '-'; keep outliers, log-compress them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3520440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2651760"/>
            <a:ext cx="548640" cy="54864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 features: bytes/packet, byte ratios, TTL difference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20440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651760"/>
            <a:ext cx="548640" cy="54864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service &amp; state; frequency-encode proto (131 values)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8240" y="3520440"/>
            <a:ext cx="137160" cy="0"/>
          </a:xfrm>
          <a:prstGeom prst="line">
            <a:avLst/>
          </a:prstGeom>
          <a:noFill/>
          <a:ln w="25400">
            <a:solidFill>
              <a:srgbClr val="00A9C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1540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89720" y="2651760"/>
            <a:ext cx="548640" cy="54864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8972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(median/IQR) — resistant to heavy tails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F5F9"/>
          </a:solidFill>
          <a:ln w="12700">
            <a:solidFill>
              <a:srgbClr val="00A9CE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1389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5120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model-ready features. Two engineered features — TTL difference and source/destination byte ratio — rank in the top five by importance, confirming the domain reasoning added real signal.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Leakage-safe, fit-on-train-only preprocessing per scikit-learn (2024) and Kaufman et al. (2012).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Structure, feature selection &amp; dimensionality reduction</a:t>
            </a:r>
            <a:endParaRPr lang="en-US" sz="3000" dirty="0"/>
          </a:p>
        </p:txBody>
      </p:sp>
      <p:pic>
        <p:nvPicPr>
          <p:cNvPr id="5" name="Image 0" descr="fe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4846320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normal vs attack are largely separable (3,000-row sample)</a:t>
            </a:r>
            <a:endParaRPr lang="en-US" sz="1100" dirty="0"/>
          </a:p>
        </p:txBody>
      </p:sp>
      <p:pic>
        <p:nvPicPr>
          <p:cNvPr id="7" name="Image 1" descr="fe_pca_sc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4572000" cy="2606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42611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31 of 69 components capture 95% of variance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0" y="468172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779008" y="5056632"/>
            <a:ext cx="118872" cy="118872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016752" y="4791456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→ 21 features (Random Forest importance + correlation filter).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0" y="5504688"/>
            <a:ext cx="6172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79008" y="5879592"/>
            <a:ext cx="118872" cy="118872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016752" y="5614416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log-compressed (45→1); attack rate varies sharply by service &amp; state.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SHAP and LIME agree on what drives detection</a:t>
            </a:r>
            <a:endParaRPr lang="en-US" sz="3000" dirty="0"/>
          </a:p>
        </p:txBody>
      </p:sp>
      <p:pic>
        <p:nvPicPr>
          <p:cNvPr id="5" name="Image 0" descr="fe_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21792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52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— impact on attack prediction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TTL features dominate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286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importances, global SHAP, and a local LIME explanation independently rank time-to-live features first — consistent with intrusion-detection theory, where spoofed and crafted packets show abnormal TTLs.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86600" y="3758184"/>
            <a:ext cx="109728" cy="10972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0" y="3703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sttl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3721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TTL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86600" y="4325112"/>
            <a:ext cx="109728" cy="10972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0" y="4270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ttl_diff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4288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86600" y="4892040"/>
            <a:ext cx="109728" cy="10972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48371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ct_state_ttl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46920" y="4855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× TTL counter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86600" y="5458968"/>
            <a:ext cx="109728" cy="109728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0" y="54041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src_dst_byte_ratio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5422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5897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methods (SHAP, LIME, tree importance) converging = confidence the model learns real structure, not artefacts.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Seven models, compared on the held-out test 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7665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737360"/>
          <a:ext cx="6629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5087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266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0.974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2825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(best)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355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0.989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3483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(best)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0142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0.919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464040" y="4142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98080" y="48920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4E5"/>
          </a:solidFill>
          <a:ln w="12700">
            <a:solidFill>
              <a:srgbClr val="E0A458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26680" y="50292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matched but didn't beat the ensembles — the usual tabular-data result. SVM maximises recall; RF wins recall + PR-AUC.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*Isolation Forest is unsupervised (trained on normal traffic only); lower scores are expected. A K-Means study confirmed attack structure is only weakly visible without labels.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Random Forest — error profile suits triage</a:t>
            </a:r>
            <a:endParaRPr lang="en-US" sz="3000" dirty="0"/>
          </a:p>
        </p:txBody>
      </p:sp>
      <p:pic>
        <p:nvPicPr>
          <p:cNvPr id="5" name="Image 0" descr="model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93776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held-out test set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173736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63640" y="2029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9C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97.4%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993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the attack class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34086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attacks are caught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31546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63640" y="34472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7C9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1,197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410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37581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attacks out of 45,332 — the costly error, kept low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45720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263640" y="486460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6,533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4828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517550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flagged as attack — the cheaper, tolerable error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could go wrong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stress-tested our own model. Six limitations — each measured, not assumed: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39696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blind spot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3591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Fuzzers detected at 0.82 vs ~1.0 for other families — disparate-impact ratio of 0.82.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828800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39696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evasion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3591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small feature perturbation, F1 falls 0.92 → 0.80. Clean accuracy ≠ robustness.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584448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3438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8039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evolve; the benchmark's own train/test split already shifts (PSI flags counters).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91072" y="3273552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3584448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438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overfitting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8039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 0.98 vs test F1 0.92 — a 0.06 gap, held in check by depth limits and class weighting.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18304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502920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5568" y="4882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realism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" y="52486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 is attack-heavy and lab-generated; live traffic is mostly benign and messier.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91072" y="4718304"/>
            <a:ext cx="54864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502920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0" y="4882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Rare-class fragility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52486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130 Worms samples, fine-grained attack typing is unreliable — binary is the safe target.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drift framing per NIST AI 100-2 (2023), Goodfellow et al. (2015), Madry et al. (2018), Gama et al. (2014).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fixed — and what we recommend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THIS BUILD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334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Fuzzers recall 0.82 → 0.94 for a small, deliberate F1 trade-off.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364992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552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quantified (PSI)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0273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is mild and isolated to connection-counter features.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334256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24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controlled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572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encoders and scalers fit on the training split only.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5303520"/>
            <a:ext cx="310896" cy="3108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93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honest miss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412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to boost rare classes; it did not help, and is reported as-is.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16916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A9C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PRODUCTION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2395728"/>
            <a:ext cx="310896" cy="31089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hardening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6334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and ensembles to resist evasion.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0" y="3364992"/>
            <a:ext cx="310896" cy="31089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255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Explanation-drift alerts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602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SHAP patterns as an early adversarial signal.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75120" y="4334256"/>
            <a:ext cx="310896" cy="31089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224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thresholds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72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per traffic profile to balance misses vs alarms.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675120" y="5303520"/>
            <a:ext cx="310896" cy="310896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7512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5193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retraining</a:t>
            </a:r>
            <a:endParaRPr lang="en-US" sz="155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55412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model as attack behaviour evolves.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1168" cy="201168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FUTURE 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left out — and what comes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94A3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THIS BUILD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395728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3865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multi-class typing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15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families too sparse to classify reliably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328416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3192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line-rate inference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47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systems-engineering effort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261104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2519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MLOps platform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later, separate deployment decision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5193792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1846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084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adversarial defences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413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and compute-intensive; deferred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0E1E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6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1691640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00A9C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17373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QUESTIONS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240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/ sequence models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53288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LSTMs or Transformers catch multi-stage attacks?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990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generalisation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2826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transfer to live traffic and other benchmarks?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739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real adversaries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up under constrained, problem-space evasion?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489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47823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the operating point to real breach and analyst costs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5239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5239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explanations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532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explanation drift flag evasion reliably?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MLOPS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keep learning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improvement loop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441448"/>
            <a:ext cx="457200" cy="45720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78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715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volume, performance &amp; drift (PSI)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34440" y="2898648"/>
            <a:ext cx="0" cy="365760"/>
          </a:xfrm>
          <a:prstGeom prst="line">
            <a:avLst/>
          </a:prstGeom>
          <a:noFill/>
          <a:ln w="25400">
            <a:solidFill>
              <a:srgbClr val="2945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374136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10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6484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or evasion signals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34440" y="3831336"/>
            <a:ext cx="0" cy="365760"/>
          </a:xfrm>
          <a:prstGeom prst="line">
            <a:avLst/>
          </a:prstGeom>
          <a:noFill/>
          <a:ln w="25400">
            <a:solidFill>
              <a:srgbClr val="2945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" y="4306824"/>
            <a:ext cx="457200" cy="457200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97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5811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fresh, recently-labelled traffic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234440" y="4764024"/>
            <a:ext cx="0" cy="365760"/>
          </a:xfrm>
          <a:prstGeom prst="line">
            <a:avLst/>
          </a:prstGeom>
          <a:noFill/>
          <a:ln w="25400">
            <a:solidFill>
              <a:srgbClr val="2945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5239512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276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129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513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redeploy — with rollback ready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6172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repeats as the threat landscape changes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965960"/>
            <a:ext cx="5486400" cy="932688"/>
          </a:xfrm>
          <a:prstGeom prst="roundRect">
            <a:avLst>
              <a:gd name="adj" fmla="val 5882"/>
            </a:avLst>
          </a:prstGeom>
          <a:solidFill>
            <a:srgbClr val="16294B"/>
          </a:solidFill>
          <a:ln w="12700">
            <a:solidFill>
              <a:srgbClr val="2945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276856"/>
            <a:ext cx="146304" cy="146304"/>
          </a:xfrm>
          <a:prstGeom prst="ellipse">
            <a:avLst/>
          </a:prstGeom>
          <a:solidFill>
            <a:srgbClr val="00A9C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0" y="2112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threats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24688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drift-triggered retraining keep the model current as attacks evolve.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5486400" cy="932688"/>
          </a:xfrm>
          <a:prstGeom prst="roundRect">
            <a:avLst>
              <a:gd name="adj" fmla="val 5882"/>
            </a:avLst>
          </a:prstGeom>
          <a:solidFill>
            <a:srgbClr val="16294B"/>
          </a:solidFill>
          <a:ln w="12700">
            <a:solidFill>
              <a:srgbClr val="2945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28416"/>
            <a:ext cx="146304" cy="146304"/>
          </a:xfrm>
          <a:prstGeom prst="ellipse">
            <a:avLst/>
          </a:prstGeom>
          <a:solidFill>
            <a:srgbClr val="0C7C9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3163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itself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5204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and explanation-drift monitoring flag when the world changes — or when evasion begins.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069080"/>
            <a:ext cx="5486400" cy="932688"/>
          </a:xfrm>
          <a:prstGeom prst="roundRect">
            <a:avLst>
              <a:gd name="adj" fmla="val 5882"/>
            </a:avLst>
          </a:prstGeom>
          <a:solidFill>
            <a:srgbClr val="16294B"/>
          </a:solidFill>
          <a:ln w="12700">
            <a:solidFill>
              <a:srgbClr val="2945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379976"/>
            <a:ext cx="146304" cy="146304"/>
          </a:xfrm>
          <a:prstGeom prst="ellipse">
            <a:avLst/>
          </a:prstGeom>
          <a:solidFill>
            <a:srgbClr val="4FB0C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75120" y="42153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robust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457200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hardening and ensembles blunt evasion attempts before they land.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5120640"/>
            <a:ext cx="5486400" cy="932688"/>
          </a:xfrm>
          <a:prstGeom prst="roundRect">
            <a:avLst>
              <a:gd name="adj" fmla="val 5882"/>
            </a:avLst>
          </a:prstGeom>
          <a:solidFill>
            <a:srgbClr val="16294B"/>
          </a:solidFill>
          <a:ln w="12700">
            <a:solidFill>
              <a:srgbClr val="2945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5431536"/>
            <a:ext cx="146304" cy="146304"/>
          </a:xfrm>
          <a:prstGeom prst="ellipse">
            <a:avLst/>
          </a:prstGeom>
          <a:solidFill>
            <a:srgbClr val="8FD3E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75120" y="52669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reversible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56235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models and a shared pipeline enable safe rollback and audit at any time.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6144768"/>
            <a:ext cx="5486400" cy="0"/>
          </a:xfrm>
          <a:prstGeom prst="line">
            <a:avLst/>
          </a:prstGeom>
          <a:noFill/>
          <a:ln w="12700">
            <a:solidFill>
              <a:srgbClr val="2945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26480" y="6263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 never stops evolving — a static model quietly decays. This one is built to adapt.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practices per Sculley et al. (2015).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2026-09-07T09:42:05Z</dcterms:created>
  <dcterms:modified xsi:type="dcterms:W3CDTF">2026-09-07T09:42:05Z</dcterms:modified>
</cp:coreProperties>
</file>